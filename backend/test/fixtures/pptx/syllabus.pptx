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rId3"/>
    <p:sldId id="257" r:id="rId1"/>
    <p:sldId id="258" r:id="rId4"/>
    <p:sldId id="259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3" Type="http://schemas.openxmlformats.org/officeDocument/2006/relationships/slide" Target="slides/slide3.xml"/><Relationship Id="rId1" Type="http://schemas.openxmlformats.org/officeDocument/2006/relationships/slide" Target="slides/slide1.xml"/><Relationship Id="rId4" Type="http://schemas.openxmlformats.org/officeDocument/2006/relationships/slide" Target="slides/slide4.xml"/><Relationship Id="rId2" Type="http://schemas.openxmlformats.org/officeDocument/2006/relationships/slide" Target="slides/slide2.xml"/></Relationships>
</file>

<file path=ppt/notesSlides/_rels/notesSlide1.xml.rels><Relationships xmlns="http://schemas.openxmlformats.org/package/2006/relationships"><Relationship Id="slide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 2"/>
          <p:cNvSpPr txBox="1"/>
          <p:nvPr/>
        </p:nvSpPr>
        <p:spPr>
          <a:xfrm>
            <a:off x="600000" y="1500000"/>
            <a:ext cx="7800000" cy="2500000"/>
          </a:xfrm>
          <a:prstGeom prst="rect">
            <a:avLst/>
          </a:prstGeom>
        </p:spPr>
        <p:txBody>
          <a:bodyPr/>
          <a:lstStyle/>
          <a:p>
            <a:pPr/>
            <a:r>
              <a:rPr lang="uk-UA" sz="2200">
                <a:latin typeface="DejaVu Sans"/>
              </a:rPr>
              <a:t>Нотатки викладача: обговорити кейс українською.</a:t>
            </a:r>
            <a:endParaRPr lang="uk-UA"/>
          </a:p>
        </p:txBody>
      </p:sp>
    </p:spTree>
  </p:cSld>
</p:notes>
</file>

<file path=ppt/slides/_rels/slide2.xml.rels><Relationships xmlns="http://schemas.openxmlformats.org/package/2006/relationships"><Relationship Id="notes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3" name="Text 3"/>
          <p:cNvSpPr txBox="1"/>
          <p:nvPr/>
        </p:nvSpPr>
        <p:spPr>
          <a:xfrm>
            <a:off x="600000" y="1500000"/>
            <a:ext cx="7800000" cy="2500000"/>
          </a:xfrm>
          <a:prstGeom prst="rect">
            <a:avLst/>
          </a:prstGeom>
        </p:spPr>
        <p:txBody>
          <a:bodyPr/>
          <a:lstStyle/>
          <a:p>
            <a:pPr marL="342900" indent="-285750">
              <a:buChar char="•"/>
            </a:pPr>
            <a:r>
              <a:rPr lang="uk-UA" sz="2200">
                <a:latin typeface="DejaVu Sans"/>
              </a:rPr>
              <a:t>Мета та результати навчання</a:t>
            </a:r>
            <a:endParaRPr lang="uk-UA"/>
          </a:p>
          <a:p>
            <a:pPr marL="342900" indent="-285750">
              <a:buChar char="•"/>
            </a:pPr>
            <a:r>
              <a:rPr lang="uk-UA" sz="2200">
                <a:latin typeface="DejaVu Sans"/>
              </a:rPr>
              <a:t>Командна робота</a:t>
            </a:r>
            <a:endParaRPr lang="uk-UA"/>
          </a:p>
          <a:p>
            <a:pPr marL="342900" indent="-285750">
              <a:buChar char="•"/>
            </a:pPr>
            <a:r>
              <a:rPr lang="uk-UA" sz="2200">
                <a:latin typeface="DejaVu Sans"/>
              </a:rPr>
              <a:t>Оцінювання та політики</a:t>
            </a:r>
            <a:endParaRPr lang="uk-UA"/>
          </a:p>
        </p:txBody>
      </p:sp>
      <p:sp>
        <p:nvSpPr>
          <p:cNvPr id="2" name="Text 2"/>
          <p:cNvSpPr txBox="1"/>
          <p:nvPr>
            <p:ph type="title"/>
          </p:nvPr>
        </p:nvSpPr>
        <p:spPr>
          <a:xfrm>
            <a:off x="600000" y="300000"/>
            <a:ext cx="7800000" cy="2500000"/>
          </a:xfrm>
          <a:prstGeom prst="rect">
            <a:avLst/>
          </a:prstGeom>
        </p:spPr>
        <p:txBody>
          <a:bodyPr/>
          <a:lstStyle/>
          <a:p>
            <a:r>
              <a:rPr lang="uk-UA" sz="2200" b="1">
                <a:latin typeface="DejaVu Sans"/>
              </a:rPr>
              <a:t>План курсу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 2"/>
          <p:cNvSpPr txBox="1"/>
          <p:nvPr>
            <p:ph type="title"/>
          </p:nvPr>
        </p:nvSpPr>
        <p:spPr>
          <a:xfrm>
            <a:off x="600000" y="300000"/>
            <a:ext cx="7800000" cy="2500000"/>
          </a:xfrm>
          <a:prstGeom prst="rect">
            <a:avLst/>
          </a:prstGeom>
        </p:spPr>
        <p:txBody>
          <a:bodyPr/>
          <a:lstStyle/>
          <a:p>
            <a:r>
              <a:rPr lang="uk-UA" sz="2200" b="1">
                <a:latin typeface="DejaVu Sans"/>
              </a:rPr>
              <a:t>Оцінювання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0000" y="1500000"/>
            <a:ext cx="7800000" cy="2500000"/>
          </a:xfrm>
          <a:prstGeom prst="rect">
            <a:avLst/>
          </a:prstGeom>
        </p:spPr>
        <p:txBody>
          <a:bodyPr/>
          <a:lstStyle/>
          <a:p>
            <a:pPr/>
            <a:r>
              <a:rPr lang="uk-UA" sz="2200" b="1">
                <a:latin typeface="DejaVu Sans"/>
              </a:rPr>
              <a:t>Курс триває </a:t>
            </a:r>
            <a:r>
              <a:rPr lang="uk-UA" sz="2200" i="1">
                <a:latin typeface="DejaVu Sans"/>
              </a:rPr>
              <a:t>10 тижнів</a:t>
            </a:r>
            <a:r>
              <a:rPr lang="uk-UA" sz="2200">
                <a:latin typeface="DejaVu Sans"/>
              </a:rPr>
              <a:t> і має іспит.</a:t>
            </a:r>
            <a:endParaRPr lang="uk-UA"/>
          </a:p>
        </p:txBody>
      </p:sp>
      <p:grpSp>
        <p:nvGrpSpPr>
          <p:cNvPr id="4" name="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5" name="Text 5"/>
            <p:cNvSpPr txBox="1"/>
            <p:nvPr/>
          </p:nvSpPr>
          <p:spPr>
            <a:xfrm>
              <a:off x="600000" y="3600000"/>
              <a:ext cx="7800000" cy="2500000"/>
            </a:xfrm>
            <a:prstGeom prst="rect">
              <a:avLst/>
            </a:prstGeom>
          </p:spPr>
          <p:txBody>
            <a:bodyPr/>
            <a:lstStyle/>
            <a:p>
              <a:pPr/>
              <a:r>
                <a:rPr lang="uk-UA" sz="2200">
                  <a:latin typeface="DejaVu Sans"/>
                </a:rPr>
                <a:t>Academic integrity: плагіат заборонено.</a:t>
              </a:r>
              <a:endParaRPr lang="uk-UA"/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 2"/>
          <p:cNvSpPr txBox="1"/>
          <p:nvPr>
            <p:ph type="title"/>
          </p:nvPr>
        </p:nvSpPr>
        <p:spPr>
          <a:xfrm>
            <a:off x="600000" y="300000"/>
            <a:ext cx="7800000" cy="2500000"/>
          </a:xfrm>
          <a:prstGeom prst="rect">
            <a:avLst/>
          </a:prstGeom>
        </p:spPr>
        <p:txBody>
          <a:bodyPr/>
          <a:lstStyle/>
          <a:p>
            <a:r>
              <a:rPr lang="uk-UA" sz="2200" b="1">
                <a:latin typeface="DejaVu Sans"/>
              </a:rPr>
              <a:t>Силабус: Стратегічний менеджмент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00000" y="1500000"/>
            <a:ext cx="7800000" cy="2500000"/>
          </a:xfrm>
          <a:prstGeom prst="rect">
            <a:avLst/>
          </a:prstGeom>
        </p:spPr>
        <p:txBody>
          <a:bodyPr/>
          <a:lstStyle/>
          <a:p>
            <a:pPr/>
            <a:r>
              <a:rPr lang="uk-UA" sz="2200">
                <a:latin typeface="DejaVu Sans"/>
              </a:rPr>
              <a:t>Kyiv School of Economics — MBA 2026</a:t>
            </a:r>
            <a:endParaRPr lang="uk-UA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Text 2"/>
          <p:cNvSpPr txBox="1"/>
          <p:nvPr>
            <p:ph type="title"/>
          </p:nvPr>
        </p:nvSpPr>
        <p:spPr>
          <a:xfrm>
            <a:off x="600000" y="300000"/>
            <a:ext cx="7800000" cy="2500000"/>
          </a:xfrm>
          <a:prstGeom prst="rect">
            <a:avLst/>
          </a:prstGeom>
        </p:spPr>
        <p:txBody>
          <a:bodyPr/>
          <a:lstStyle/>
          <a:p>
            <a:r>
              <a:rPr lang="uk-UA" sz="2200" b="1">
                <a:latin typeface="DejaVu Sans"/>
              </a:rPr>
              <a:t>Розклад занять</a:t>
            </a:r>
          </a:p>
        </p:txBody>
      </p:sp>
      <p:graphicFrame>
        <p:nvGraphicFramePr>
          <p:cNvPr id="3" name="Schedule"/>
          <p:cNvGraphicFramePr/>
          <p:nvPr/>
        </p:nvGraphicFramePr>
        <p:xfrm>
          <a:off x="600000" y="1500000"/>
          <a:ext cx="7800000" cy="2400000"/>
        </p:xfrm>
        <a:graphic>
          <a:graphicData uri="http://schemas.openxmlformats.org/drawingml/2006/main/table">
            <a:tbl>
              <a:tblPr firstRow="1"/>
              <a:tblGrid>
                <a:gridCol w="1500000"/>
                <a:gridCol w="3800000"/>
                <a:gridCol w="2500000"/>
              </a:tblGrid>
              <a:tr h="800000"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Тиждень</a:t>
                      </a:r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Тема</a:t>
                      </a:r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Кейс</a:t>
                      </a:r>
                      <a:endParaRPr lang="uk-UA"/>
                    </a:p>
                  </a:txBody>
                  <a:tcPr/>
                </a:tc>
              </a:tr>
              <a:tr h="800000"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1</a:t>
                      </a:r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Вступ до стратегії</a:t>
                      </a:r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Nova Poshta</a:t>
                      </a:r>
                      <a:endParaRPr lang="uk-UA"/>
                    </a:p>
                  </a:txBody>
                  <a:tcPr/>
                </a:tc>
              </a:tr>
              <a:tr h="800000"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2</a:t>
                      </a:r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Аналіз галузі</a:t>
                      </a:r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/>
                      <a:r>
                        <a:rPr lang="uk-UA" sz="2200">
                          <a:latin typeface="DejaVu Sans"/>
                        </a:rPr>
                        <a:t>Monobank</a:t>
                      </a:r>
                      <a:endParaRPr lang="uk-UA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